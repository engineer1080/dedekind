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C256E1-3FC0-4A74-B0C8-A1C117954B05}">
  <a:tblStyle styleId="{06C256E1-3FC0-4A74-B0C8-A1C117954B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0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22.jpg"/><Relationship Id="rId5" Type="http://schemas.openxmlformats.org/officeDocument/2006/relationships/hyperlink" Target="http://tum.ai" TargetMode="External"/><Relationship Id="rId6" Type="http://schemas.openxmlformats.org/officeDocument/2006/relationships/image" Target="../media/image23.png"/><Relationship Id="rId7" Type="http://schemas.openxmlformats.org/officeDocument/2006/relationships/image" Target="../media/image13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71850"/>
            <a:ext cx="110299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86677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DEDEKIND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085975"/>
            <a:ext cx="110299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Programming Language for Science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71550" y="3524250"/>
            <a:ext cx="10248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Physical Units • Differentiable Solvers • GPU Native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504825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Mario Michael Heinrich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5562600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Founder | github.com/Engineer1080 | v1.3.1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715000" y="1839366"/>
            <a:ext cx="762000" cy="476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05276" y="2267991"/>
            <a:ext cx="115814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Nature's Laws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Native in Code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047875" y="4020591"/>
            <a:ext cx="809625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Replacing fragile scripts with a language that understands the fundamental grammar of physics and mathematics.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03635"/>
            <a:ext cx="52292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13160"/>
            <a:ext cx="52101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81025" y="1951285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b="0" i="0" lang="en-US" sz="21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Dimensional Errors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254183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~30% of scientific software bugs stem from wrong units. Unit errors caused the $125M Mars Climate Orbiter crash.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3446710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b="0" i="0" lang="en-US" sz="21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Boilerplate Friction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4037260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Researchers waste thousands of hours rewriting ODE solvers and manual uncertainty propagation in Python/MATLAB.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4942135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b="0" i="0" lang="en-US" sz="210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Irreproducibility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553268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Manual tracking and disconnected publication tools make scientific results impossible to verify or scale.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1796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1338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0088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SCIENCE'S SILENT CRISIS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180260"/>
            <a:ext cx="110299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684585"/>
            <a:ext cx="34861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1684585"/>
            <a:ext cx="34861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4825" y="1684585"/>
            <a:ext cx="348615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923925" y="279901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Type-Safe Units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23925" y="3313360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Enforced at compile-time. Adding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1[m]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1[s]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triggers an error instantly, not at runtime.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95825" y="279901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Differentiable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95825" y="3313360"/>
            <a:ext cx="2800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Native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grad()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support for ODE/PDE solvers, enabling effortless Physics-Informed ML and optimization.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67725" y="279901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LaTeX First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67725" y="3313360"/>
            <a:ext cx="2800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Built-in publication tools. Export verified code definitions directly to peer-reviewed LaTeX documents.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206558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5825" y="206558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67725" y="206558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DEDEKIND SOLUTION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81025" y="1456580"/>
            <a:ext cx="51906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6366F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DEDEKIND STUDIO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249480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Next-Gen Scientific IDE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3123455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high-performance fork of Spyder designed for discovery. Unified environment for coding, plotting, and real-time physical verification.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445695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Live Unit Verification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488558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Interactive Physical Plotting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5314205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LaTeX Definition Preview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998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92844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35706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5742855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Scientific Notation in the Terminal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7857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title="Dedekind_IDE - Kopie.png"/>
          <p:cNvPicPr preferRelativeResize="0"/>
          <p:nvPr/>
        </p:nvPicPr>
        <p:blipFill rotWithShape="1">
          <a:blip r:embed="rId5">
            <a:alphaModFix/>
          </a:blip>
          <a:srcRect b="5863" l="46930" r="0" t="6101"/>
          <a:stretch/>
        </p:blipFill>
        <p:spPr>
          <a:xfrm>
            <a:off x="5586725" y="507150"/>
            <a:ext cx="6470400" cy="584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8"/>
          <p:cNvGraphicFramePr/>
          <p:nvPr/>
        </p:nvGraphicFramePr>
        <p:xfrm>
          <a:off x="581025" y="2509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{06C256E1-3FC0-4A74-B0C8-A1C117954B05}</a:tableStyleId>
              </a:tblPr>
              <a:tblGrid>
                <a:gridCol w="2000700"/>
                <a:gridCol w="2575325"/>
                <a:gridCol w="6453925"/>
              </a:tblGrid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Value Proposition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Compiler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MLIR / LLVM 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Progressive lowering for heterogeneous hardware (CPU/GPU/TPU).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GPU Acceleration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Triton Kernels (OpenAI)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Hardware-agnostic, block-level GPU programming native to the IR.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Parallelism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Work-Stealing Scheduler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Provably optimal dynamic load balancing for nested simulations.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Safety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Affine Type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Memory safety and data-race prevention without garbage collection.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18"/>
          <p:cNvSpPr/>
          <p:nvPr/>
        </p:nvSpPr>
        <p:spPr>
          <a:xfrm>
            <a:off x="581025" y="3137743"/>
            <a:ext cx="2000696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581721" y="3137743"/>
            <a:ext cx="2575321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157043" y="3137743"/>
            <a:ext cx="6453931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1025" y="3723530"/>
            <a:ext cx="20006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581721" y="3723530"/>
            <a:ext cx="25753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157043" y="3723530"/>
            <a:ext cx="64539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81025" y="4295030"/>
            <a:ext cx="20006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581721" y="4295030"/>
            <a:ext cx="25753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157043" y="4295030"/>
            <a:ext cx="64539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81025" y="4866530"/>
            <a:ext cx="20006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581721" y="4866530"/>
            <a:ext cx="25753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157043" y="4866530"/>
            <a:ext cx="64539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81025" y="5438030"/>
            <a:ext cx="20006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581721" y="5438030"/>
            <a:ext cx="25753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157043" y="5438030"/>
            <a:ext cx="64539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UNCOMPROMISING TECH STACK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4585"/>
            <a:ext cx="11029950" cy="459238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81025" y="4861768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"Researchers globally waste $2.1B annually on errors that Dedekind prevents by design."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GLOBAL MARKET OPPORTUNITY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4585"/>
            <a:ext cx="3486150" cy="4592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684585"/>
            <a:ext cx="3486150" cy="4592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684585"/>
            <a:ext cx="3486150" cy="459238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923925" y="22941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Open Source Core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23925" y="2808535"/>
            <a:ext cx="2800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MIT-licensed compiler and basic IDE to drive rapid academic adoption and ecosystem network effects.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695825" y="22941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366F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SaaS &amp; Pro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695825" y="2808535"/>
            <a:ext cx="2800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Team collaboration, cloud solvers, and premium IDE features. Recurring revenue from labs and R&amp;D teams.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695825" y="4142035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€49 - €299 / mo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467725" y="22941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Enterprise Licensing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467725" y="2808535"/>
            <a:ext cx="2800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Custom SLA, support, and embedded engine licensing for Pharma, Defense, and Engineering firms.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SCALABLE REVENUE STREAMS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581025" y="3273028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20362" y="3735883"/>
            <a:ext cx="25478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Jan 2026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20362" y="4250233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Launch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4764583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Core Unit Checker and MLIR Prototype.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3388131" y="3735883"/>
            <a:ext cx="254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</a:t>
            </a:r>
            <a:r>
              <a:rPr b="1" lang="en-US" sz="15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1" i="0" lang="en-US" sz="15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2026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3388131" y="4250233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v1.0 Release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3448794" y="4764583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Dedekind Studio stable for early adopters.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255900" y="3735883"/>
            <a:ext cx="25478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 2026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255900" y="4250233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Ecosystem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16563" y="4764583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100+ native solvers and Jupyter integration.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123670" y="3735883"/>
            <a:ext cx="25478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2027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123670" y="4250233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184332" y="4764583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Enterprise cloud-native solver launch.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2026 STRATEGY &amp; ROADMAP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699021" y="41235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566791" y="41235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7434560" y="41235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0302329" y="41235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209055"/>
            <a:ext cx="22574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153025" y="2547193"/>
            <a:ext cx="67808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Mario Michael Heinrich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153025" y="3309193"/>
            <a:ext cx="6457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Serial AI Builder &amp; Language Creator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153025" y="3890218"/>
            <a:ext cx="6458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4x Hackathon Winner: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Meta, XIB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IX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&amp; the Max-Planck-Challenge </a:t>
            </a:r>
            <a:endParaRPr b="0" i="0" sz="1500" u="none" cap="none" strike="noStrike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(Anthropic x </a:t>
            </a:r>
            <a:r>
              <a:rPr b="0" i="0" lang="en-US" sz="1500" u="sng" cap="none" strike="noStrike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5"/>
              </a:rPr>
              <a:t>TUM.ai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Hackathon).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153025" y="4576018"/>
            <a:ext cx="6457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Inventor: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High-performance Prime Number Generation Algorithm.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153025" y="4976068"/>
            <a:ext cx="6457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Founder: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Creator of easy-job.ai and easy-quiz.ai.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3025" y="393308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3025" y="461888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3025" y="501893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FOUNDER &amp; LEAD ARCHITECT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2" title="bewerbungsfot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45925" y="2550188"/>
            <a:ext cx="2215524" cy="296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4585"/>
            <a:ext cx="11029950" cy="459238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819150" y="913060"/>
            <a:ext cx="11331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SEED ASK: €250,000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81025" y="913060"/>
            <a:ext cx="47625" cy="4857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305276" y="1262062"/>
            <a:ext cx="1158144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81025" y="2500312"/>
            <a:ext cx="11029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Let's build the future of scientific computing together.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3333750" y="4167187"/>
            <a:ext cx="2524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Resources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3333750" y="4643437"/>
            <a:ext cx="2524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github.com/Engineer1080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3333750" y="5119687"/>
            <a:ext cx="2524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Dedekind-Language.com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619875" y="4167187"/>
            <a:ext cx="2238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Contact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619875" y="4643437"/>
            <a:ext cx="2238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Deggendorf, Germany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619875" y="5119687"/>
            <a:ext cx="2238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MIT Licensed Core</a:t>
            </a:r>
            <a:endParaRPr/>
          </a:p>
        </p:txBody>
      </p:sp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4691062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3750" y="51673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46910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516731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